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1170432"/>
            <a:ext cx="502920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600" b="1">
                <a:solidFill>
                  <a:srgbClr val="35478D"/>
                </a:solidFill>
                <a:latin typeface="Aptos"/>
              </a:rPr>
              <a:t>IDEB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783080"/>
            <a:ext cx="5669280" cy="6217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400" b="1">
                <a:solidFill>
                  <a:srgbClr val="35478D"/>
                </a:solidFill>
                <a:latin typeface="Aptos"/>
              </a:rPr>
              <a:t>Rosario do Catete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2487168"/>
            <a:ext cx="57607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0">
                <a:solidFill>
                  <a:srgbClr val="4E5662"/>
                </a:solidFill>
                <a:latin typeface="Aptos"/>
              </a:rPr>
              <a:t>Resultados, evolucao e posicionamento da Rede Municipal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907792"/>
            <a:ext cx="32004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2A9ED"/>
                </a:solidFill>
                <a:latin typeface="Aptos"/>
              </a:rPr>
              <a:t>Comparativo 2023 x 2025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4023359"/>
            <a:ext cx="1965960" cy="1078992"/>
          </a:xfrm>
          <a:prstGeom prst="roundRect">
            <a:avLst/>
          </a:prstGeom>
          <a:solidFill>
            <a:srgbClr val="E6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3977639"/>
            <a:ext cx="1965960" cy="1078992"/>
          </a:xfrm>
          <a:prstGeom prst="roundRect">
            <a:avLst/>
          </a:prstGeom>
          <a:solidFill>
            <a:srgbClr val="32A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4105655"/>
            <a:ext cx="1691639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25112"/>
            <a:ext cx="1746504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Municipal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4828031"/>
            <a:ext cx="1691639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ptos"/>
              </a:rPr>
              <a:t>Ensino Fundamental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44368" y="4023359"/>
            <a:ext cx="1965960" cy="1078992"/>
          </a:xfrm>
          <a:prstGeom prst="roundRect">
            <a:avLst/>
          </a:prstGeom>
          <a:solidFill>
            <a:srgbClr val="E6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07792" y="3977639"/>
            <a:ext cx="1965960" cy="1078992"/>
          </a:xfrm>
          <a:prstGeom prst="roundRect">
            <a:avLst/>
          </a:prstGeom>
          <a:solidFill>
            <a:srgbClr val="35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4105655"/>
            <a:ext cx="1691639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Periodo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4325112"/>
            <a:ext cx="1746504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2023-2025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2" y="4828031"/>
            <a:ext cx="1691639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ptos"/>
              </a:rPr>
              <a:t>Evolucao do IDEB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47488" y="4023359"/>
            <a:ext cx="1965960" cy="1078992"/>
          </a:xfrm>
          <a:prstGeom prst="roundRect">
            <a:avLst/>
          </a:prstGeom>
          <a:solidFill>
            <a:srgbClr val="E6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10912" y="3977639"/>
            <a:ext cx="1965960" cy="1078992"/>
          </a:xfrm>
          <a:prstGeom prst="roundRect">
            <a:avLst/>
          </a:prstGeom>
          <a:solidFill>
            <a:srgbClr val="FA2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48072" y="4105655"/>
            <a:ext cx="1691639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Foco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4325112"/>
            <a:ext cx="1746504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DRE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8072" y="4828031"/>
            <a:ext cx="1691639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ptos"/>
              </a:rPr>
              <a:t>Ranking regional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1188720"/>
            <a:ext cx="347472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81544" y="1353312"/>
            <a:ext cx="402336" cy="73152"/>
          </a:xfrm>
          <a:prstGeom prst="roundRect">
            <a:avLst/>
          </a:prstGeom>
          <a:solidFill>
            <a:srgbClr val="FFC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9831" y="1499616"/>
            <a:ext cx="3145536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5478D"/>
                </a:solidFill>
                <a:latin typeface="Aptos"/>
              </a:rPr>
              <a:t>Entrega executiva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9831" y="1847088"/>
            <a:ext cx="3145536" cy="30906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E5662"/>
                </a:solidFill>
                <a:latin typeface="Aptos"/>
              </a:rPr>
              <a:t>Apresentacao automatizada com dados oficiais, rankings, graficos e diagnostico gerencial.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47104"/>
            <a:ext cx="804672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00" b="0">
                <a:solidFill>
                  <a:srgbClr val="9AA0A6"/>
                </a:solidFill>
                <a:latin typeface="Aptos"/>
              </a:rPr>
              <a:t>Fonte: INEP / IDEB / Base dos Dados | Elaboracao: analise propria | IDEB 2023-2025</a:t>
            </a:r>
          </a:p>
        </p:txBody>
      </p:sp>
      <p:pic>
        <p:nvPicPr>
          <p:cNvPr id="26" name="Picture 25" descr="logo_se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291072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7724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35478D"/>
                </a:solidFill>
                <a:latin typeface="Aptos"/>
              </a:rPr>
              <a:t>O que vamos analisar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777240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4E5662"/>
                </a:solidFill>
                <a:latin typeface="Aptos"/>
              </a:rPr>
              <a:t>Cinco dimensoes para transformar dados em decisao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89888"/>
            <a:ext cx="777240" cy="73152"/>
          </a:xfrm>
          <a:prstGeom prst="roundRect">
            <a:avLst/>
          </a:prstGeom>
          <a:solidFill>
            <a:srgbClr val="32A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804672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00" b="0">
                <a:solidFill>
                  <a:srgbClr val="9AA0A6"/>
                </a:solidFill>
                <a:latin typeface="Aptos"/>
              </a:rPr>
              <a:t>Fonte: INEP / IDEB / Base dos Dados | Elaboracao: analise propria | IDEB 2023-2025</a:t>
            </a:r>
          </a:p>
        </p:txBody>
      </p:sp>
      <p:pic>
        <p:nvPicPr>
          <p:cNvPr id="6" name="Picture 5" descr="logo_se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291072"/>
            <a:ext cx="960120" cy="960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22376" y="2148839"/>
            <a:ext cx="1920240" cy="1325880"/>
          </a:xfrm>
          <a:prstGeom prst="roundRect">
            <a:avLst/>
          </a:prstGeom>
          <a:solidFill>
            <a:srgbClr val="E6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103120"/>
            <a:ext cx="1920240" cy="1325880"/>
          </a:xfrm>
          <a:prstGeom prst="roundRect">
            <a:avLst/>
          </a:prstGeom>
          <a:solidFill>
            <a:srgbClr val="32A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31136"/>
            <a:ext cx="16459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Evolucao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450591"/>
            <a:ext cx="1700784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53512"/>
            <a:ext cx="1645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ptos"/>
              </a:rPr>
              <a:t>IDEB 2023 x 2025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62656" y="2148839"/>
            <a:ext cx="1920240" cy="1325880"/>
          </a:xfrm>
          <a:prstGeom prst="roundRect">
            <a:avLst/>
          </a:prstGeom>
          <a:solidFill>
            <a:srgbClr val="E6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26080" y="2103120"/>
            <a:ext cx="1920240" cy="1325880"/>
          </a:xfrm>
          <a:prstGeom prst="roundRect">
            <a:avLst/>
          </a:prstGeom>
          <a:solidFill>
            <a:srgbClr val="35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2231136"/>
            <a:ext cx="16459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Comparacao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2450591"/>
            <a:ext cx="1700784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953512"/>
            <a:ext cx="1645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ptos"/>
              </a:rPr>
              <a:t>Sergipe municipal e DRE 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02936" y="2148839"/>
            <a:ext cx="1920240" cy="1325880"/>
          </a:xfrm>
          <a:prstGeom prst="roundRect">
            <a:avLst/>
          </a:prstGeom>
          <a:solidFill>
            <a:srgbClr val="E6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66360" y="2103120"/>
            <a:ext cx="1920240" cy="1325880"/>
          </a:xfrm>
          <a:prstGeom prst="roundRect">
            <a:avLst/>
          </a:prstGeom>
          <a:solidFill>
            <a:srgbClr val="FA2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2231136"/>
            <a:ext cx="16459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Ranking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6088" y="2450591"/>
            <a:ext cx="1700784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953512"/>
            <a:ext cx="1645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ptos"/>
              </a:rPr>
              <a:t>Posicao estadual e regional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43216" y="2148839"/>
            <a:ext cx="1920240" cy="1325880"/>
          </a:xfrm>
          <a:prstGeom prst="roundRect">
            <a:avLst/>
          </a:prstGeom>
          <a:solidFill>
            <a:srgbClr val="E6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06640" y="2103120"/>
            <a:ext cx="1920240" cy="1325880"/>
          </a:xfrm>
          <a:prstGeom prst="roundRect">
            <a:avLst/>
          </a:prstGeom>
          <a:solidFill>
            <a:srgbClr val="FFC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2231136"/>
            <a:ext cx="16459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4E5662"/>
                </a:solidFill>
                <a:latin typeface="Aptos"/>
              </a:rPr>
              <a:t>Aprendizagem e fluxo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16368" y="2450591"/>
            <a:ext cx="1700784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700" b="1">
                <a:solidFill>
                  <a:srgbClr val="4E5662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2953512"/>
            <a:ext cx="1645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4E5662"/>
                </a:solidFill>
                <a:latin typeface="Aptos"/>
              </a:rPr>
              <a:t>Origem da variacao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83496" y="2148839"/>
            <a:ext cx="1920240" cy="1325880"/>
          </a:xfrm>
          <a:prstGeom prst="roundRect">
            <a:avLst/>
          </a:prstGeom>
          <a:solidFill>
            <a:srgbClr val="E6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646920" y="2103120"/>
            <a:ext cx="1920240" cy="1325880"/>
          </a:xfrm>
          <a:prstGeom prst="roundRect">
            <a:avLst/>
          </a:prstGeom>
          <a:solidFill>
            <a:srgbClr val="40C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0" y="2231136"/>
            <a:ext cx="16459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Escolas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6648" y="2450591"/>
            <a:ext cx="1700784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2953512"/>
            <a:ext cx="1645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ptos"/>
              </a:rPr>
              <a:t>Quem avancou e onde agir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17320" y="4572000"/>
            <a:ext cx="9326880" cy="658368"/>
          </a:xfrm>
          <a:prstGeom prst="roundRect">
            <a:avLst/>
          </a:prstGeom>
          <a:solidFill>
            <a:srgbClr val="F7F9FC"/>
          </a:solidFill>
          <a:ln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81912" y="4718304"/>
            <a:ext cx="8997696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E5662"/>
                </a:solidFill>
                <a:latin typeface="Aptos"/>
              </a:rPr>
              <a:t>A narrativa segue a sequencia: onde estavamos, onde estamos, como nos comparamos, por que mudou e onde agir.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7724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35478D"/>
                </a:solidFill>
                <a:latin typeface="Aptos"/>
              </a:rPr>
              <a:t>Resumo executivo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777240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4E5662"/>
                </a:solidFill>
                <a:latin typeface="Aptos"/>
              </a:rPr>
              <a:t>Rosario avancou nas duas etapas avaliadas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89888"/>
            <a:ext cx="777240" cy="73152"/>
          </a:xfrm>
          <a:prstGeom prst="roundRect">
            <a:avLst/>
          </a:prstGeom>
          <a:solidFill>
            <a:srgbClr val="32A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804672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00" b="0">
                <a:solidFill>
                  <a:srgbClr val="9AA0A6"/>
                </a:solidFill>
                <a:latin typeface="Aptos"/>
              </a:rPr>
              <a:t>Fonte: INEP / IDEB / Base dos Dados | Elaboracao: analise propria | IDEB 2023-2025</a:t>
            </a:r>
          </a:p>
        </p:txBody>
      </p:sp>
      <p:pic>
        <p:nvPicPr>
          <p:cNvPr id="6" name="Picture 5" descr="logo_se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291072"/>
            <a:ext cx="960120" cy="960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22376" y="1618488"/>
            <a:ext cx="2057400" cy="1143000"/>
          </a:xfrm>
          <a:prstGeom prst="roundRect">
            <a:avLst/>
          </a:prstGeom>
          <a:solidFill>
            <a:srgbClr val="E6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572768"/>
            <a:ext cx="2057400" cy="1143000"/>
          </a:xfrm>
          <a:prstGeom prst="roundRect">
            <a:avLst/>
          </a:prstGeom>
          <a:solidFill>
            <a:srgbClr val="32A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00784"/>
            <a:ext cx="17830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IDEB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920240"/>
            <a:ext cx="1837943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5,4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23160"/>
            <a:ext cx="17830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ptos"/>
              </a:rPr>
              <a:t>Anos iniciais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62656" y="1618488"/>
            <a:ext cx="2057400" cy="1143000"/>
          </a:xfrm>
          <a:prstGeom prst="roundRect">
            <a:avLst/>
          </a:prstGeom>
          <a:solidFill>
            <a:srgbClr val="E6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26080" y="1572768"/>
            <a:ext cx="2057400" cy="1143000"/>
          </a:xfrm>
          <a:prstGeom prst="roundRect">
            <a:avLst/>
          </a:prstGeom>
          <a:solidFill>
            <a:srgbClr val="35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1700784"/>
            <a:ext cx="17830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IDEB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1920240"/>
            <a:ext cx="1837943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4,1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423160"/>
            <a:ext cx="17830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ptos"/>
              </a:rPr>
              <a:t>Anos finais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02936" y="1618488"/>
            <a:ext cx="2057400" cy="1143000"/>
          </a:xfrm>
          <a:prstGeom prst="roundRect">
            <a:avLst/>
          </a:prstGeom>
          <a:solidFill>
            <a:srgbClr val="E6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66360" y="1572768"/>
            <a:ext cx="2057400" cy="1143000"/>
          </a:xfrm>
          <a:prstGeom prst="roundRect">
            <a:avLst/>
          </a:prstGeom>
          <a:solidFill>
            <a:srgbClr val="40C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1700784"/>
            <a:ext cx="17830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Variacao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6088" y="1920240"/>
            <a:ext cx="1837943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+0,8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423160"/>
            <a:ext cx="17830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ptos"/>
              </a:rPr>
              <a:t>Maior avanco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43215" y="1618488"/>
            <a:ext cx="2057400" cy="1143000"/>
          </a:xfrm>
          <a:prstGeom prst="roundRect">
            <a:avLst/>
          </a:prstGeom>
          <a:solidFill>
            <a:srgbClr val="E6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06640" y="1572768"/>
            <a:ext cx="2057400" cy="1143000"/>
          </a:xfrm>
          <a:prstGeom prst="roundRect">
            <a:avLst/>
          </a:prstGeom>
          <a:solidFill>
            <a:srgbClr val="FA2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1700784"/>
            <a:ext cx="17830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Ranking estadual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16367" y="1920240"/>
            <a:ext cx="1837943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19º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2423160"/>
            <a:ext cx="17830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ptos"/>
              </a:rPr>
              <a:t>Melhor posicao 2025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83496" y="1618488"/>
            <a:ext cx="2057400" cy="1143000"/>
          </a:xfrm>
          <a:prstGeom prst="roundRect">
            <a:avLst/>
          </a:prstGeom>
          <a:solidFill>
            <a:srgbClr val="E6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646920" y="1572768"/>
            <a:ext cx="2057400" cy="1143000"/>
          </a:xfrm>
          <a:prstGeom prst="roundRect">
            <a:avLst/>
          </a:prstGeom>
          <a:solidFill>
            <a:srgbClr val="FFC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0" y="1700784"/>
            <a:ext cx="17830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4E5662"/>
                </a:solidFill>
                <a:latin typeface="Aptos"/>
              </a:rPr>
              <a:t>Ranking DRE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6648" y="1920240"/>
            <a:ext cx="1837943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700" b="1">
                <a:solidFill>
                  <a:srgbClr val="4E5662"/>
                </a:solidFill>
                <a:latin typeface="Aptos"/>
              </a:rPr>
              <a:t>1º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2423160"/>
            <a:ext cx="17830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4E5662"/>
                </a:solidFill>
                <a:latin typeface="Aptos"/>
              </a:rPr>
              <a:t>Melhor posicao 2025</a:t>
            </a:r>
          </a:p>
        </p:txBody>
      </p:sp>
      <p:pic>
        <p:nvPicPr>
          <p:cNvPr id="32" name="Picture 31" descr="01_resumo_executiv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63240"/>
            <a:ext cx="6675120" cy="269748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7818120" y="3273552"/>
            <a:ext cx="3246120" cy="1371600"/>
          </a:xfrm>
          <a:prstGeom prst="roundRect">
            <a:avLst/>
          </a:prstGeom>
          <a:solidFill>
            <a:srgbClr val="F7F9FC"/>
          </a:solidFill>
          <a:ln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82712" y="3419856"/>
            <a:ext cx="2916936" cy="11521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E5662"/>
                </a:solidFill>
                <a:latin typeface="Aptos"/>
              </a:rPr>
              <a:t>Leitura executiva: a rede municipal cresceu em IDEB nas duas etapas, com ganho regional mais forte nos anos iniciais.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7724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35478D"/>
                </a:solidFill>
                <a:latin typeface="Aptos"/>
              </a:rPr>
              <a:t>Rosario avancou entre 2023 e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777240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4E5662"/>
                </a:solidFill>
                <a:latin typeface="Aptos"/>
              </a:rPr>
              <a:t>O movimento foi positivo nos anos iniciais e finais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89888"/>
            <a:ext cx="777240" cy="73152"/>
          </a:xfrm>
          <a:prstGeom prst="roundRect">
            <a:avLst/>
          </a:prstGeom>
          <a:solidFill>
            <a:srgbClr val="32A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804672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00" b="0">
                <a:solidFill>
                  <a:srgbClr val="9AA0A6"/>
                </a:solidFill>
                <a:latin typeface="Aptos"/>
              </a:rPr>
              <a:t>Fonte: INEP / IDEB / Base dos Dados | Elaboracao: analise propria | IDEB 2023-2025</a:t>
            </a:r>
          </a:p>
        </p:txBody>
      </p:sp>
      <p:pic>
        <p:nvPicPr>
          <p:cNvPr id="6" name="Picture 5" descr="logo_se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291072"/>
            <a:ext cx="960120" cy="960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0120" y="1874519"/>
            <a:ext cx="1828800" cy="5486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400" b="1">
                <a:solidFill>
                  <a:srgbClr val="35478D"/>
                </a:solidFill>
                <a:latin typeface="Aptos"/>
              </a:rPr>
              <a:t>4,6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41448"/>
            <a:ext cx="228600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E5662"/>
                </a:solidFill>
                <a:latin typeface="Aptos"/>
              </a:rPr>
              <a:t>Anos iniciais em 2023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920240"/>
            <a:ext cx="73152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9AA0A6"/>
                </a:solidFill>
                <a:latin typeface="Aptos"/>
              </a:rPr>
              <a:t>-&gt;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874519"/>
            <a:ext cx="1828800" cy="5486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400" b="1">
                <a:solidFill>
                  <a:srgbClr val="32A9ED"/>
                </a:solidFill>
                <a:latin typeface="Aptos"/>
              </a:rPr>
              <a:t>5,4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441448"/>
            <a:ext cx="228600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E5662"/>
                </a:solidFill>
                <a:latin typeface="Aptos"/>
              </a:rPr>
              <a:t>Anos iniciais em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828800" cy="5486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400" b="1">
                <a:solidFill>
                  <a:srgbClr val="35478D"/>
                </a:solidFill>
                <a:latin typeface="Aptos"/>
              </a:rPr>
              <a:t>3,7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224528"/>
            <a:ext cx="228600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E5662"/>
                </a:solidFill>
                <a:latin typeface="Aptos"/>
              </a:rPr>
              <a:t>Anos finais em 2023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3703320"/>
            <a:ext cx="73152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9AA0A6"/>
                </a:solidFill>
                <a:latin typeface="Aptos"/>
              </a:rPr>
              <a:t>-&gt;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657600"/>
            <a:ext cx="1828800" cy="5486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400" b="1">
                <a:solidFill>
                  <a:srgbClr val="32A9ED"/>
                </a:solidFill>
                <a:latin typeface="Aptos"/>
              </a:rPr>
              <a:t>4,1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224528"/>
            <a:ext cx="228600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E5662"/>
                </a:solidFill>
                <a:latin typeface="Aptos"/>
              </a:rPr>
              <a:t>Anos finais em 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2280" y="2057400"/>
            <a:ext cx="4069080" cy="2194560"/>
          </a:xfrm>
          <a:prstGeom prst="roundRect">
            <a:avLst/>
          </a:prstGeom>
          <a:solidFill>
            <a:srgbClr val="F7F9FC"/>
          </a:solidFill>
          <a:ln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76872" y="2203704"/>
            <a:ext cx="3739896" cy="19751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E5662"/>
                </a:solidFill>
                <a:latin typeface="Aptos"/>
              </a:rPr>
              <a:t>Rosario avancou +0,8 ponto no IDEB entre 2023 e 2025.
Rosario avancou +0,4 ponto no IDEB entre 2023 e 2025.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7724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35478D"/>
                </a:solidFill>
                <a:latin typeface="Aptos"/>
              </a:rPr>
              <a:t>Anos iniciais avancam no IDEB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777240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4E5662"/>
                </a:solidFill>
                <a:latin typeface="Aptos"/>
              </a:rPr>
              <a:t>Anos iniciais: evolucao 2023 x 2025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89888"/>
            <a:ext cx="777240" cy="73152"/>
          </a:xfrm>
          <a:prstGeom prst="roundRect">
            <a:avLst/>
          </a:prstGeom>
          <a:solidFill>
            <a:srgbClr val="32A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804672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00" b="0">
                <a:solidFill>
                  <a:srgbClr val="9AA0A6"/>
                </a:solidFill>
                <a:latin typeface="Aptos"/>
              </a:rPr>
              <a:t>Fonte: INEP / IDEB / Base dos Dados | Elaboracao: analise propria | IDEB 2023-2025</a:t>
            </a:r>
          </a:p>
        </p:txBody>
      </p:sp>
      <p:pic>
        <p:nvPicPr>
          <p:cNvPr id="6" name="Picture 5" descr="logo_se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291072"/>
            <a:ext cx="960120" cy="960120"/>
          </a:xfrm>
          <a:prstGeom prst="rect">
            <a:avLst/>
          </a:prstGeom>
        </p:spPr>
      </p:pic>
      <p:pic>
        <p:nvPicPr>
          <p:cNvPr id="7" name="Picture 6" descr="02_ideb_inicia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572768"/>
            <a:ext cx="7818120" cy="2880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769096" y="1673352"/>
            <a:ext cx="2331720" cy="1078992"/>
          </a:xfrm>
          <a:prstGeom prst="roundRect">
            <a:avLst/>
          </a:prstGeom>
          <a:solidFill>
            <a:srgbClr val="E6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32520" y="1627632"/>
            <a:ext cx="2331720" cy="1078992"/>
          </a:xfrm>
          <a:prstGeom prst="roundRect">
            <a:avLst/>
          </a:prstGeom>
          <a:solidFill>
            <a:srgbClr val="40C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1755648"/>
            <a:ext cx="20574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Variacao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42248" y="1975104"/>
            <a:ext cx="2112263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+0,8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478024"/>
            <a:ext cx="20574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ptos"/>
              </a:rPr>
              <a:t>pontos de IDEB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69096" y="2944368"/>
            <a:ext cx="2331720" cy="1078992"/>
          </a:xfrm>
          <a:prstGeom prst="roundRect">
            <a:avLst/>
          </a:prstGeom>
          <a:solidFill>
            <a:srgbClr val="E6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32520" y="2898648"/>
            <a:ext cx="2331720" cy="1078992"/>
          </a:xfrm>
          <a:prstGeom prst="roundRect">
            <a:avLst/>
          </a:prstGeom>
          <a:solidFill>
            <a:srgbClr val="32A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0" y="3026664"/>
            <a:ext cx="20574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Crescimento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42248" y="3246120"/>
            <a:ext cx="2112263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+17,4%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3749039"/>
            <a:ext cx="20574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ptos"/>
              </a:rPr>
              <a:t>2023-2025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4370832"/>
            <a:ext cx="2788920" cy="841248"/>
          </a:xfrm>
          <a:prstGeom prst="roundRect">
            <a:avLst/>
          </a:prstGeom>
          <a:solidFill>
            <a:srgbClr val="F7F9FC"/>
          </a:solidFill>
          <a:ln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22792" y="4517136"/>
            <a:ext cx="2459736" cy="6217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E5662"/>
                </a:solidFill>
                <a:latin typeface="Aptos"/>
              </a:rPr>
              <a:t>Passou da 5º para a 1º posicao na DRE 4, ganhando 4 posicoes.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7724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35478D"/>
                </a:solidFill>
                <a:latin typeface="Aptos"/>
              </a:rPr>
              <a:t>Anos finais avancam no IDEB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777240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4E5662"/>
                </a:solidFill>
                <a:latin typeface="Aptos"/>
              </a:rPr>
              <a:t>Anos finais: evolucao 2023 x 2025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89888"/>
            <a:ext cx="777240" cy="73152"/>
          </a:xfrm>
          <a:prstGeom prst="roundRect">
            <a:avLst/>
          </a:prstGeom>
          <a:solidFill>
            <a:srgbClr val="32A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804672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00" b="0">
                <a:solidFill>
                  <a:srgbClr val="9AA0A6"/>
                </a:solidFill>
                <a:latin typeface="Aptos"/>
              </a:rPr>
              <a:t>Fonte: INEP / IDEB / Base dos Dados | Elaboracao: analise propria | IDEB 2023-2025</a:t>
            </a:r>
          </a:p>
        </p:txBody>
      </p:sp>
      <p:pic>
        <p:nvPicPr>
          <p:cNvPr id="6" name="Picture 5" descr="logo_se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291072"/>
            <a:ext cx="960120" cy="960120"/>
          </a:xfrm>
          <a:prstGeom prst="rect">
            <a:avLst/>
          </a:prstGeom>
        </p:spPr>
      </p:pic>
      <p:pic>
        <p:nvPicPr>
          <p:cNvPr id="7" name="Picture 6" descr="03_ideb_fina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572768"/>
            <a:ext cx="7818120" cy="2880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769096" y="1673352"/>
            <a:ext cx="2331720" cy="1078992"/>
          </a:xfrm>
          <a:prstGeom prst="roundRect">
            <a:avLst/>
          </a:prstGeom>
          <a:solidFill>
            <a:srgbClr val="E6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32520" y="1627632"/>
            <a:ext cx="2331720" cy="1078992"/>
          </a:xfrm>
          <a:prstGeom prst="roundRect">
            <a:avLst/>
          </a:prstGeom>
          <a:solidFill>
            <a:srgbClr val="40C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1755648"/>
            <a:ext cx="20574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Variacao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42248" y="1975104"/>
            <a:ext cx="2112263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+0,4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478024"/>
            <a:ext cx="20574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ptos"/>
              </a:rPr>
              <a:t>pontos de IDEB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69096" y="2944368"/>
            <a:ext cx="2331720" cy="1078992"/>
          </a:xfrm>
          <a:prstGeom prst="roundRect">
            <a:avLst/>
          </a:prstGeom>
          <a:solidFill>
            <a:srgbClr val="E6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32520" y="2898648"/>
            <a:ext cx="2331720" cy="1078992"/>
          </a:xfrm>
          <a:prstGeom prst="roundRect">
            <a:avLst/>
          </a:prstGeom>
          <a:solidFill>
            <a:srgbClr val="32A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0" y="3026664"/>
            <a:ext cx="20574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Crescimento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42248" y="3246120"/>
            <a:ext cx="2112263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+10,8%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3749039"/>
            <a:ext cx="20574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ptos"/>
              </a:rPr>
              <a:t>2023-2025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4370832"/>
            <a:ext cx="2788920" cy="841248"/>
          </a:xfrm>
          <a:prstGeom prst="roundRect">
            <a:avLst/>
          </a:prstGeom>
          <a:solidFill>
            <a:srgbClr val="F7F9FC"/>
          </a:solidFill>
          <a:ln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22792" y="4517136"/>
            <a:ext cx="2459736" cy="6217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E5662"/>
                </a:solidFill>
                <a:latin typeface="Aptos"/>
              </a:rPr>
              <a:t>Passou da 5º para a 4º posicao na DRE 4, ganhando 1 posicao.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7724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35478D"/>
                </a:solidFill>
                <a:latin typeface="Aptos"/>
              </a:rPr>
              <a:t>Anos iniciais lideram o crescimento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777240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4E5662"/>
                </a:solidFill>
                <a:latin typeface="Aptos"/>
              </a:rPr>
              <a:t>Comparacao direta entre etapas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89888"/>
            <a:ext cx="777240" cy="73152"/>
          </a:xfrm>
          <a:prstGeom prst="roundRect">
            <a:avLst/>
          </a:prstGeom>
          <a:solidFill>
            <a:srgbClr val="32A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804672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00" b="0">
                <a:solidFill>
                  <a:srgbClr val="9AA0A6"/>
                </a:solidFill>
                <a:latin typeface="Aptos"/>
              </a:rPr>
              <a:t>Fonte: INEP / IDEB / Base dos Dados | Elaboracao: analise propria | IDEB 2023-2025</a:t>
            </a:r>
          </a:p>
        </p:txBody>
      </p:sp>
      <p:pic>
        <p:nvPicPr>
          <p:cNvPr id="6" name="Picture 5" descr="logo_se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291072"/>
            <a:ext cx="960120" cy="960120"/>
          </a:xfrm>
          <a:prstGeom prst="rect">
            <a:avLst/>
          </a:prstGeom>
        </p:spPr>
      </p:pic>
      <p:pic>
        <p:nvPicPr>
          <p:cNvPr id="7" name="Picture 6" descr="01_resumo_executiv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08760"/>
            <a:ext cx="6812280" cy="338328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818120" y="1828800"/>
          <a:ext cx="315468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8670"/>
                <a:gridCol w="788670"/>
                <a:gridCol w="788670"/>
                <a:gridCol w="788670"/>
              </a:tblGrid>
              <a:tr h="47244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Etapa</a:t>
                      </a:r>
                    </a:p>
                  </a:txBody>
                  <a:tcPr marL="36576" marR="36576" marT="18288" marB="18288">
                    <a:solidFill>
                      <a:srgbClr val="3547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IDEB 2023</a:t>
                      </a:r>
                    </a:p>
                  </a:txBody>
                  <a:tcPr marL="36576" marR="36576" marT="18288" marB="18288">
                    <a:solidFill>
                      <a:srgbClr val="3547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IDEB 2025</a:t>
                      </a:r>
                    </a:p>
                  </a:txBody>
                  <a:tcPr marL="36576" marR="36576" marT="18288" marB="18288">
                    <a:solidFill>
                      <a:srgbClr val="3547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Var.</a:t>
                      </a:r>
                    </a:p>
                  </a:txBody>
                  <a:tcPr marL="36576" marR="36576" marT="18288" marB="18288">
                    <a:solidFill>
                      <a:srgbClr val="35478D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E5662"/>
                          </a:solidFill>
                          <a:latin typeface="Aptos"/>
                        </a:defRPr>
                      </a:pPr>
                      <a:r>
                        <a:t>Anos finais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E5662"/>
                          </a:solidFill>
                          <a:latin typeface="Aptos"/>
                        </a:defRPr>
                      </a:pPr>
                      <a:r>
                        <a:t>3,7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E5662"/>
                          </a:solidFill>
                          <a:latin typeface="Aptos"/>
                        </a:defRPr>
                      </a:pPr>
                      <a:r>
                        <a:t>4,1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E5662"/>
                          </a:solidFill>
                          <a:latin typeface="Aptos"/>
                        </a:defRPr>
                      </a:pPr>
                      <a:r>
                        <a:t>+0,4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E5662"/>
                          </a:solidFill>
                          <a:latin typeface="Aptos"/>
                        </a:defRPr>
                      </a:pPr>
                      <a:r>
                        <a:t>Anos iniciais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E5662"/>
                          </a:solidFill>
                          <a:latin typeface="Aptos"/>
                        </a:defRPr>
                      </a:pPr>
                      <a:r>
                        <a:t>4,6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E5662"/>
                          </a:solidFill>
                          <a:latin typeface="Aptos"/>
                        </a:defRPr>
                      </a:pPr>
                      <a:r>
                        <a:t>5,4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E5662"/>
                          </a:solidFill>
                          <a:latin typeface="Aptos"/>
                        </a:defRPr>
                      </a:pPr>
                      <a:r>
                        <a:t>+0,8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818120" y="3794760"/>
            <a:ext cx="3154680" cy="777240"/>
          </a:xfrm>
          <a:prstGeom prst="roundRect">
            <a:avLst/>
          </a:prstGeom>
          <a:solidFill>
            <a:srgbClr val="F7F9FC"/>
          </a:solidFill>
          <a:ln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82712" y="3941064"/>
            <a:ext cx="2825496" cy="5577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E5662"/>
                </a:solidFill>
                <a:latin typeface="Aptos"/>
              </a:rPr>
              <a:t>A escala dos graficos de IDEB preserva o intervalo 0 a 10 para evitar distorcoes visuais.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7724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35478D"/>
                </a:solidFill>
                <a:latin typeface="Aptos"/>
              </a:rPr>
              <a:t>Anos iniciais: Rosario fica acima da media municipal de 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777240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4E5662"/>
                </a:solidFill>
                <a:latin typeface="Aptos"/>
              </a:rPr>
              <a:t>Comparacao com a media municipal dos municipios sergipanos disponiveis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89888"/>
            <a:ext cx="777240" cy="73152"/>
          </a:xfrm>
          <a:prstGeom prst="roundRect">
            <a:avLst/>
          </a:prstGeom>
          <a:solidFill>
            <a:srgbClr val="32A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804672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00" b="0">
                <a:solidFill>
                  <a:srgbClr val="9AA0A6"/>
                </a:solidFill>
                <a:latin typeface="Aptos"/>
              </a:rPr>
              <a:t>Fonte: INEP / IDEB / Base dos Dados | Elaboracao: analise propria | IDEB 2023-2025</a:t>
            </a:r>
          </a:p>
        </p:txBody>
      </p:sp>
      <p:pic>
        <p:nvPicPr>
          <p:cNvPr id="6" name="Picture 5" descr="logo_se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291072"/>
            <a:ext cx="960120" cy="960120"/>
          </a:xfrm>
          <a:prstGeom prst="rect">
            <a:avLst/>
          </a:prstGeom>
        </p:spPr>
      </p:pic>
      <p:pic>
        <p:nvPicPr>
          <p:cNvPr id="7" name="Picture 6" descr="04_rosario_sergipe_inicia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508760"/>
            <a:ext cx="6720840" cy="3886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909560" y="1965960"/>
            <a:ext cx="3063240" cy="1828800"/>
          </a:xfrm>
          <a:prstGeom prst="roundRect">
            <a:avLst/>
          </a:prstGeom>
          <a:solidFill>
            <a:srgbClr val="F7F9FC"/>
          </a:solidFill>
          <a:ln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74152" y="2112264"/>
            <a:ext cx="2734056" cy="16093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E5662"/>
                </a:solidFill>
                <a:latin typeface="Aptos"/>
              </a:rPr>
              <a:t>Em 2025, Rosario ficou 0,4 ponto acima da media municipal de Sergipe.
Nota: o agregado oficial UF 2025 foi retirado do escopo; esta leitura usa a media dos municipios.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7724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35478D"/>
                </a:solidFill>
                <a:latin typeface="Aptos"/>
              </a:rPr>
              <a:t>Anos finais: Rosario fica em linha com a media municipal de 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777240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4E5662"/>
                </a:solidFill>
                <a:latin typeface="Aptos"/>
              </a:rPr>
              <a:t>Comparacao com a media municipal dos municipios sergipanos disponiveis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89888"/>
            <a:ext cx="777240" cy="73152"/>
          </a:xfrm>
          <a:prstGeom prst="roundRect">
            <a:avLst/>
          </a:prstGeom>
          <a:solidFill>
            <a:srgbClr val="32A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804672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00" b="0">
                <a:solidFill>
                  <a:srgbClr val="9AA0A6"/>
                </a:solidFill>
                <a:latin typeface="Aptos"/>
              </a:rPr>
              <a:t>Fonte: INEP / IDEB / Base dos Dados | Elaboracao: analise propria | IDEB 2023-2025</a:t>
            </a:r>
          </a:p>
        </p:txBody>
      </p:sp>
      <p:pic>
        <p:nvPicPr>
          <p:cNvPr id="6" name="Picture 5" descr="logo_se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291072"/>
            <a:ext cx="960120" cy="960120"/>
          </a:xfrm>
          <a:prstGeom prst="rect">
            <a:avLst/>
          </a:prstGeom>
        </p:spPr>
      </p:pic>
      <p:pic>
        <p:nvPicPr>
          <p:cNvPr id="7" name="Picture 6" descr="05_rosario_sergipe_fina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508760"/>
            <a:ext cx="6720840" cy="3886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909560" y="1965960"/>
            <a:ext cx="3063240" cy="1828800"/>
          </a:xfrm>
          <a:prstGeom prst="roundRect">
            <a:avLst/>
          </a:prstGeom>
          <a:solidFill>
            <a:srgbClr val="F7F9FC"/>
          </a:solidFill>
          <a:ln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74152" y="2112264"/>
            <a:ext cx="2734056" cy="16093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E5662"/>
                </a:solidFill>
                <a:latin typeface="Aptos"/>
              </a:rPr>
              <a:t>Em 2025, Rosario ficou 0,0 ponto abaixo da media municipal de Sergipe.
Nota: o agregado oficial UF 2025 foi retirado do escopo; esta leitura usa a media dos municipios.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7724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35478D"/>
                </a:solidFill>
                <a:latin typeface="Aptos"/>
              </a:rPr>
              <a:t>Rosario ocupa 1º nos iniciais e 4º nos finais na DRE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777240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4E5662"/>
                </a:solidFill>
                <a:latin typeface="Aptos"/>
              </a:rPr>
              <a:t>Ranking regional de 2025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89888"/>
            <a:ext cx="777240" cy="73152"/>
          </a:xfrm>
          <a:prstGeom prst="roundRect">
            <a:avLst/>
          </a:prstGeom>
          <a:solidFill>
            <a:srgbClr val="32A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804672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00" b="0">
                <a:solidFill>
                  <a:srgbClr val="9AA0A6"/>
                </a:solidFill>
                <a:latin typeface="Aptos"/>
              </a:rPr>
              <a:t>Fonte: INEP / IDEB / Base dos Dados | Elaboracao: analise propria | IDEB 2023-2025</a:t>
            </a:r>
          </a:p>
        </p:txBody>
      </p:sp>
      <p:pic>
        <p:nvPicPr>
          <p:cNvPr id="6" name="Picture 5" descr="logo_se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291072"/>
            <a:ext cx="960120" cy="960120"/>
          </a:xfrm>
          <a:prstGeom prst="rect">
            <a:avLst/>
          </a:prstGeom>
        </p:spPr>
      </p:pic>
      <p:pic>
        <p:nvPicPr>
          <p:cNvPr id="7" name="Picture 6" descr="06_ranking_dre4_inicia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5349240" cy="4251960"/>
          </a:xfrm>
          <a:prstGeom prst="rect">
            <a:avLst/>
          </a:prstGeom>
        </p:spPr>
      </p:pic>
      <p:pic>
        <p:nvPicPr>
          <p:cNvPr id="8" name="Picture 7" descr="07_ranking_dre4_fina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1417320"/>
            <a:ext cx="5349240" cy="42519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14400" y="1207008"/>
            <a:ext cx="1234440" cy="310896"/>
          </a:xfrm>
          <a:prstGeom prst="roundRect">
            <a:avLst/>
          </a:prstGeom>
          <a:solidFill>
            <a:srgbClr val="32A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271016"/>
            <a:ext cx="1078992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Iniciais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207008"/>
            <a:ext cx="1234440" cy="310896"/>
          </a:xfrm>
          <a:prstGeom prst="roundRect">
            <a:avLst/>
          </a:prstGeom>
          <a:solidFill>
            <a:srgbClr val="FA2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271016"/>
            <a:ext cx="1078992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Finais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7724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35478D"/>
                </a:solidFill>
                <a:latin typeface="Aptos"/>
              </a:rPr>
              <a:t>A DRE 4 tambem mudou de patamar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777240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4E5662"/>
                </a:solidFill>
                <a:latin typeface="Aptos"/>
              </a:rPr>
              <a:t>Variacao de IDEB entre 2023 e 2025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89888"/>
            <a:ext cx="777240" cy="73152"/>
          </a:xfrm>
          <a:prstGeom prst="roundRect">
            <a:avLst/>
          </a:prstGeom>
          <a:solidFill>
            <a:srgbClr val="32A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804672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00" b="0">
                <a:solidFill>
                  <a:srgbClr val="9AA0A6"/>
                </a:solidFill>
                <a:latin typeface="Aptos"/>
              </a:rPr>
              <a:t>Fonte: INEP / IDEB / Base dos Dados | Elaboracao: analise propria | IDEB 2023-2025</a:t>
            </a:r>
          </a:p>
        </p:txBody>
      </p:sp>
      <p:pic>
        <p:nvPicPr>
          <p:cNvPr id="6" name="Picture 5" descr="logo_se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291072"/>
            <a:ext cx="960120" cy="960120"/>
          </a:xfrm>
          <a:prstGeom prst="rect">
            <a:avLst/>
          </a:prstGeom>
        </p:spPr>
      </p:pic>
      <p:pic>
        <p:nvPicPr>
          <p:cNvPr id="7" name="Picture 6" descr="08_variacao_dre4_inicia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5349240" cy="4206240"/>
          </a:xfrm>
          <a:prstGeom prst="rect">
            <a:avLst/>
          </a:prstGeom>
        </p:spPr>
      </p:pic>
      <p:pic>
        <p:nvPicPr>
          <p:cNvPr id="8" name="Picture 7" descr="09_variacao_dre4_fina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1417320"/>
            <a:ext cx="53492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7724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35478D"/>
                </a:solidFill>
                <a:latin typeface="Aptos"/>
              </a:rPr>
              <a:t>Rosario aparece entre os avancos da DRE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777240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4E5662"/>
                </a:solidFill>
                <a:latin typeface="Aptos"/>
              </a:rPr>
              <a:t>Variacao absoluta do IDEB entre 2023 e 2025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89888"/>
            <a:ext cx="777240" cy="73152"/>
          </a:xfrm>
          <a:prstGeom prst="roundRect">
            <a:avLst/>
          </a:prstGeom>
          <a:solidFill>
            <a:srgbClr val="32A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804672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00" b="0">
                <a:solidFill>
                  <a:srgbClr val="9AA0A6"/>
                </a:solidFill>
                <a:latin typeface="Aptos"/>
              </a:rPr>
              <a:t>Fonte: INEP / IDEB / Base dos Dados | Elaboracao: analise propria | IDEB 2023-2025</a:t>
            </a:r>
          </a:p>
        </p:txBody>
      </p:sp>
      <p:pic>
        <p:nvPicPr>
          <p:cNvPr id="6" name="Picture 5" descr="logo_se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291072"/>
            <a:ext cx="960120" cy="960120"/>
          </a:xfrm>
          <a:prstGeom prst="rect">
            <a:avLst/>
          </a:prstGeom>
        </p:spPr>
      </p:pic>
      <p:pic>
        <p:nvPicPr>
          <p:cNvPr id="7" name="Picture 6" descr="08_variacao_dre4_inicia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5349240" cy="4251960"/>
          </a:xfrm>
          <a:prstGeom prst="rect">
            <a:avLst/>
          </a:prstGeom>
        </p:spPr>
      </p:pic>
      <p:pic>
        <p:nvPicPr>
          <p:cNvPr id="8" name="Picture 7" descr="09_variacao_dre4_fina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1417320"/>
            <a:ext cx="5349240" cy="42519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14400" y="1207008"/>
            <a:ext cx="1234440" cy="310896"/>
          </a:xfrm>
          <a:prstGeom prst="roundRect">
            <a:avLst/>
          </a:prstGeom>
          <a:solidFill>
            <a:srgbClr val="32A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271016"/>
            <a:ext cx="1078992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Iniciais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207008"/>
            <a:ext cx="1234440" cy="310896"/>
          </a:xfrm>
          <a:prstGeom prst="roundRect">
            <a:avLst/>
          </a:prstGeom>
          <a:solidFill>
            <a:srgbClr val="FA2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271016"/>
            <a:ext cx="1078992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Finais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7724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35478D"/>
                </a:solidFill>
                <a:latin typeface="Aptos"/>
              </a:rPr>
              <a:t>Ranking estadual melhora nos iniciais e exige atencao nos finais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777240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4E5662"/>
                </a:solidFill>
                <a:latin typeface="Aptos"/>
              </a:rPr>
              <a:t>Ranking sequencial entre municipios com IDEB disponivel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89888"/>
            <a:ext cx="777240" cy="73152"/>
          </a:xfrm>
          <a:prstGeom prst="roundRect">
            <a:avLst/>
          </a:prstGeom>
          <a:solidFill>
            <a:srgbClr val="32A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804672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00" b="0">
                <a:solidFill>
                  <a:srgbClr val="9AA0A6"/>
                </a:solidFill>
                <a:latin typeface="Aptos"/>
              </a:rPr>
              <a:t>Fonte: INEP / IDEB / Base dos Dados | Elaboracao: analise propria | IDEB 2023-2025</a:t>
            </a:r>
          </a:p>
        </p:txBody>
      </p:sp>
      <p:pic>
        <p:nvPicPr>
          <p:cNvPr id="6" name="Picture 5" descr="logo_se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291072"/>
            <a:ext cx="960120" cy="960120"/>
          </a:xfrm>
          <a:prstGeom prst="rect">
            <a:avLst/>
          </a:prstGeom>
        </p:spPr>
      </p:pic>
      <p:pic>
        <p:nvPicPr>
          <p:cNvPr id="7" name="Picture 6" descr="10_ranking_estad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572768"/>
            <a:ext cx="6126480" cy="397763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60920" y="1874519"/>
            <a:ext cx="3429000" cy="1005840"/>
          </a:xfrm>
          <a:prstGeom prst="roundRect">
            <a:avLst/>
          </a:prstGeom>
          <a:solidFill>
            <a:srgbClr val="F7F9FC"/>
          </a:solidFill>
          <a:ln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25512" y="2020824"/>
            <a:ext cx="3099816" cy="7863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E5662"/>
                </a:solidFill>
                <a:latin typeface="Aptos"/>
              </a:rPr>
              <a:t>Passou da 30º para a 19º posicao no ranking estadual, ganhando 11 posicoes.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3291840"/>
            <a:ext cx="3429000" cy="1005840"/>
          </a:xfrm>
          <a:prstGeom prst="roundRect">
            <a:avLst/>
          </a:prstGeom>
          <a:solidFill>
            <a:srgbClr val="F7F9FC"/>
          </a:solidFill>
          <a:ln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25512" y="3438144"/>
            <a:ext cx="3099816" cy="7863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E5662"/>
                </a:solidFill>
                <a:latin typeface="Aptos"/>
              </a:rPr>
              <a:t>Passou da 28º para a 36º posicao no ranking estadual, perdendo 8 posicoes.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352" y="4892040"/>
            <a:ext cx="342900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Aptos"/>
              </a:rPr>
              <a:t>Ranking sequencial: empates sao ordenados alfabeticamente, sem alterar notas.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7724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35478D"/>
                </a:solidFill>
                <a:latin typeface="Aptos"/>
              </a:rPr>
              <a:t>Recorte do ranking estadual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777240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4E5662"/>
                </a:solidFill>
                <a:latin typeface="Aptos"/>
              </a:rPr>
              <a:t>Municipios proximos a Rosario em 2025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89888"/>
            <a:ext cx="777240" cy="73152"/>
          </a:xfrm>
          <a:prstGeom prst="roundRect">
            <a:avLst/>
          </a:prstGeom>
          <a:solidFill>
            <a:srgbClr val="32A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804672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00" b="0">
                <a:solidFill>
                  <a:srgbClr val="9AA0A6"/>
                </a:solidFill>
                <a:latin typeface="Aptos"/>
              </a:rPr>
              <a:t>Fonte: INEP / IDEB / Base dos Dados | Elaboracao: analise propria | IDEB 2023-2025</a:t>
            </a:r>
          </a:p>
        </p:txBody>
      </p:sp>
      <p:pic>
        <p:nvPicPr>
          <p:cNvPr id="6" name="Picture 5" descr="logo_se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291072"/>
            <a:ext cx="960120" cy="960120"/>
          </a:xfrm>
          <a:prstGeom prst="rect">
            <a:avLst/>
          </a:prstGeom>
        </p:spPr>
      </p:pic>
      <p:pic>
        <p:nvPicPr>
          <p:cNvPr id="7" name="Picture 6" descr="11_contexto_estadual_inicia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5349240" cy="4251960"/>
          </a:xfrm>
          <a:prstGeom prst="rect">
            <a:avLst/>
          </a:prstGeom>
        </p:spPr>
      </p:pic>
      <p:pic>
        <p:nvPicPr>
          <p:cNvPr id="8" name="Picture 7" descr="12_contexto_estadual_fina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1417320"/>
            <a:ext cx="534924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7724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35478D"/>
                </a:solidFill>
                <a:latin typeface="Aptos"/>
              </a:rPr>
              <a:t>Aprendizagem e fluxo explicam o IDEB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777240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4E5662"/>
                </a:solidFill>
                <a:latin typeface="Aptos"/>
              </a:rPr>
              <a:t>IDEB combina desempenho no SAEB e rendimento escolar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89888"/>
            <a:ext cx="777240" cy="73152"/>
          </a:xfrm>
          <a:prstGeom prst="roundRect">
            <a:avLst/>
          </a:prstGeom>
          <a:solidFill>
            <a:srgbClr val="32A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804672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00" b="0">
                <a:solidFill>
                  <a:srgbClr val="9AA0A6"/>
                </a:solidFill>
                <a:latin typeface="Aptos"/>
              </a:rPr>
              <a:t>Fonte: INEP / IDEB / Base dos Dados | Elaboracao: analise propria | IDEB 2023-2025</a:t>
            </a:r>
          </a:p>
        </p:txBody>
      </p:sp>
      <p:pic>
        <p:nvPicPr>
          <p:cNvPr id="6" name="Picture 5" descr="logo_se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291072"/>
            <a:ext cx="960120" cy="960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50976" y="1920239"/>
            <a:ext cx="2331720" cy="1234440"/>
          </a:xfrm>
          <a:prstGeom prst="roundRect">
            <a:avLst/>
          </a:prstGeom>
          <a:solidFill>
            <a:srgbClr val="E6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874519"/>
            <a:ext cx="2331720" cy="1234440"/>
          </a:xfrm>
          <a:prstGeom prst="roundRect">
            <a:avLst/>
          </a:prstGeom>
          <a:solidFill>
            <a:srgbClr val="35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02536"/>
            <a:ext cx="20574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Desempenho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221991"/>
            <a:ext cx="2112263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5,5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724912"/>
            <a:ext cx="20574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ptos"/>
              </a:rPr>
              <a:t>Anos iniciais 2025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94176" y="1920239"/>
            <a:ext cx="2331720" cy="1234440"/>
          </a:xfrm>
          <a:prstGeom prst="roundRect">
            <a:avLst/>
          </a:prstGeom>
          <a:solidFill>
            <a:srgbClr val="E6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0" y="1874519"/>
            <a:ext cx="2331720" cy="1234440"/>
          </a:xfrm>
          <a:prstGeom prst="roundRect">
            <a:avLst/>
          </a:prstGeom>
          <a:solidFill>
            <a:srgbClr val="32A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2002536"/>
            <a:ext cx="20574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Fluxo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2221991"/>
            <a:ext cx="2112263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0,984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2724912"/>
            <a:ext cx="20574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ptos"/>
              </a:rPr>
              <a:t>Anos iniciais 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1920239"/>
            <a:ext cx="2331720" cy="1234440"/>
          </a:xfrm>
          <a:prstGeom prst="roundRect">
            <a:avLst/>
          </a:prstGeom>
          <a:solidFill>
            <a:srgbClr val="E6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874519"/>
            <a:ext cx="2331720" cy="1234440"/>
          </a:xfrm>
          <a:prstGeom prst="roundRect">
            <a:avLst/>
          </a:prstGeom>
          <a:solidFill>
            <a:srgbClr val="FA2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002536"/>
            <a:ext cx="20574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Desempenho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221991"/>
            <a:ext cx="2112263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4,4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724912"/>
            <a:ext cx="20574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ptos"/>
              </a:rPr>
              <a:t>Anos finais 2025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0576" y="1920239"/>
            <a:ext cx="2331720" cy="1234440"/>
          </a:xfrm>
          <a:prstGeom prst="roundRect">
            <a:avLst/>
          </a:prstGeom>
          <a:solidFill>
            <a:srgbClr val="E6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44000" y="1874519"/>
            <a:ext cx="2331720" cy="1234440"/>
          </a:xfrm>
          <a:prstGeom prst="roundRect">
            <a:avLst/>
          </a:prstGeom>
          <a:solidFill>
            <a:srgbClr val="FFC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2002536"/>
            <a:ext cx="20574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4E5662"/>
                </a:solidFill>
                <a:latin typeface="Aptos"/>
              </a:rPr>
              <a:t>Fluxo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2221991"/>
            <a:ext cx="2112263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700" b="1">
                <a:solidFill>
                  <a:srgbClr val="4E5662"/>
                </a:solidFill>
                <a:latin typeface="Aptos"/>
              </a:rPr>
              <a:t>0,934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724912"/>
            <a:ext cx="20574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4E5662"/>
                </a:solidFill>
                <a:latin typeface="Aptos"/>
              </a:rPr>
              <a:t>Anos finais 2025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11680" y="4251960"/>
            <a:ext cx="8138160" cy="777240"/>
          </a:xfrm>
          <a:prstGeom prst="roundRect">
            <a:avLst/>
          </a:prstGeom>
          <a:solidFill>
            <a:srgbClr val="F7F9FC"/>
          </a:solidFill>
          <a:ln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76272" y="4398264"/>
            <a:ext cx="7808976" cy="5577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E5662"/>
                </a:solidFill>
                <a:latin typeface="Aptos"/>
              </a:rPr>
              <a:t>Leitura: quando desempenho e fluxo crescem juntos, o IDEB tende a avancar com mais consistencia.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7724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35478D"/>
                </a:solidFill>
                <a:latin typeface="Aptos"/>
              </a:rPr>
              <a:t>O avanco veio de desempenho e fluxo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777240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4E5662"/>
                </a:solidFill>
                <a:latin typeface="Aptos"/>
              </a:rPr>
              <a:t>Diagnostico da origem da variacao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89888"/>
            <a:ext cx="777240" cy="73152"/>
          </a:xfrm>
          <a:prstGeom prst="roundRect">
            <a:avLst/>
          </a:prstGeom>
          <a:solidFill>
            <a:srgbClr val="32A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804672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00" b="0">
                <a:solidFill>
                  <a:srgbClr val="9AA0A6"/>
                </a:solidFill>
                <a:latin typeface="Aptos"/>
              </a:rPr>
              <a:t>Fonte: INEP / IDEB / Base dos Dados | Elaboracao: analise propria | IDEB 2023-2025</a:t>
            </a:r>
          </a:p>
        </p:txBody>
      </p:sp>
      <p:pic>
        <p:nvPicPr>
          <p:cNvPr id="6" name="Picture 5" descr="logo_se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291072"/>
            <a:ext cx="960120" cy="960120"/>
          </a:xfrm>
          <a:prstGeom prst="rect">
            <a:avLst/>
          </a:prstGeom>
        </p:spPr>
      </p:pic>
      <p:pic>
        <p:nvPicPr>
          <p:cNvPr id="7" name="Picture 6" descr="13_desempenho_flux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63040"/>
            <a:ext cx="6217920" cy="4160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06640" y="2011680"/>
            <a:ext cx="3429000" cy="1463040"/>
          </a:xfrm>
          <a:prstGeom prst="roundRect">
            <a:avLst/>
          </a:prstGeom>
          <a:solidFill>
            <a:srgbClr val="F7F9FC"/>
          </a:solidFill>
          <a:ln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71231" y="2157984"/>
            <a:ext cx="3099816" cy="12435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E5662"/>
                </a:solidFill>
                <a:latin typeface="Aptos"/>
              </a:rPr>
              <a:t>O avanco foi impulsionado principalmente pelo desempenho.
O crescimento ocorreu principalmente pelo aumento do fluxo.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7724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35478D"/>
                </a:solidFill>
                <a:latin typeface="Aptos"/>
              </a:rPr>
              <a:t>Todas as escolas comparaveis avancaram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777240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4E5662"/>
                </a:solidFill>
                <a:latin typeface="Aptos"/>
              </a:rPr>
              <a:t>Visao municipal por escola e etapa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89888"/>
            <a:ext cx="777240" cy="73152"/>
          </a:xfrm>
          <a:prstGeom prst="roundRect">
            <a:avLst/>
          </a:prstGeom>
          <a:solidFill>
            <a:srgbClr val="32A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804672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00" b="0">
                <a:solidFill>
                  <a:srgbClr val="9AA0A6"/>
                </a:solidFill>
                <a:latin typeface="Aptos"/>
              </a:rPr>
              <a:t>Fonte: INEP / IDEB / Base dos Dados | Elaboracao: analise propria | IDEB 2023-2025</a:t>
            </a:r>
          </a:p>
        </p:txBody>
      </p:sp>
      <p:pic>
        <p:nvPicPr>
          <p:cNvPr id="6" name="Picture 5" descr="logo_se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291072"/>
            <a:ext cx="960120" cy="960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9536" y="1645920"/>
            <a:ext cx="2011680" cy="1143000"/>
          </a:xfrm>
          <a:prstGeom prst="roundRect">
            <a:avLst/>
          </a:prstGeom>
          <a:solidFill>
            <a:srgbClr val="E6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600200"/>
            <a:ext cx="2011680" cy="1143000"/>
          </a:xfrm>
          <a:prstGeom prst="roundRect">
            <a:avLst/>
          </a:prstGeom>
          <a:solidFill>
            <a:srgbClr val="35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28216"/>
            <a:ext cx="17373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Resultados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47672"/>
            <a:ext cx="1792224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50592"/>
            <a:ext cx="17373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ptos"/>
              </a:rPr>
              <a:t>comparaveis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99816" y="1645920"/>
            <a:ext cx="2011680" cy="1143000"/>
          </a:xfrm>
          <a:prstGeom prst="roundRect">
            <a:avLst/>
          </a:prstGeom>
          <a:solidFill>
            <a:srgbClr val="E6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063240" y="1600200"/>
            <a:ext cx="2011680" cy="1143000"/>
          </a:xfrm>
          <a:prstGeom prst="roundRect">
            <a:avLst/>
          </a:prstGeom>
          <a:solidFill>
            <a:srgbClr val="40C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1728216"/>
            <a:ext cx="17373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Avancaram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2968" y="1947672"/>
            <a:ext cx="1792224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450592"/>
            <a:ext cx="17373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ptos"/>
              </a:rPr>
              <a:t>resultados escolares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40096" y="1645920"/>
            <a:ext cx="2011680" cy="1143000"/>
          </a:xfrm>
          <a:prstGeom prst="roundRect">
            <a:avLst/>
          </a:prstGeom>
          <a:solidFill>
            <a:srgbClr val="E6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03520" y="1600200"/>
            <a:ext cx="2011680" cy="1143000"/>
          </a:xfrm>
          <a:prstGeom prst="roundRect">
            <a:avLst/>
          </a:prstGeom>
          <a:solidFill>
            <a:srgbClr val="FFC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0680" y="1728216"/>
            <a:ext cx="17373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4E5662"/>
                </a:solidFill>
                <a:latin typeface="Aptos"/>
              </a:rPr>
              <a:t>Estaveis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3248" y="1947672"/>
            <a:ext cx="1792224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700" b="1">
                <a:solidFill>
                  <a:srgbClr val="4E5662"/>
                </a:solidFill>
                <a:latin typeface="Aptos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2450592"/>
            <a:ext cx="17373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4E5662"/>
                </a:solidFill>
                <a:latin typeface="Aptos"/>
              </a:rPr>
              <a:t>resultados escolares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0375" y="1645920"/>
            <a:ext cx="2011680" cy="1143000"/>
          </a:xfrm>
          <a:prstGeom prst="roundRect">
            <a:avLst/>
          </a:prstGeom>
          <a:solidFill>
            <a:srgbClr val="E6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43800" y="1600200"/>
            <a:ext cx="2011680" cy="1143000"/>
          </a:xfrm>
          <a:prstGeom prst="roundRect">
            <a:avLst/>
          </a:prstGeom>
          <a:solidFill>
            <a:srgbClr val="FA2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0" y="1728216"/>
            <a:ext cx="17373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Recuaram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53527" y="1947672"/>
            <a:ext cx="1792224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2450592"/>
            <a:ext cx="17373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ptos"/>
              </a:rPr>
              <a:t>resultados escolares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868680" y="3246120"/>
          <a:ext cx="104698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3976"/>
                <a:gridCol w="2093976"/>
                <a:gridCol w="2093976"/>
                <a:gridCol w="2093976"/>
                <a:gridCol w="2093976"/>
              </a:tblGrid>
              <a:tr h="3429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Escola</a:t>
                      </a:r>
                    </a:p>
                  </a:txBody>
                  <a:tcPr marL="36576" marR="36576" marT="18288" marB="18288">
                    <a:solidFill>
                      <a:srgbClr val="3547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Etapa</a:t>
                      </a:r>
                    </a:p>
                  </a:txBody>
                  <a:tcPr marL="36576" marR="36576" marT="18288" marB="18288">
                    <a:solidFill>
                      <a:srgbClr val="3547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2023</a:t>
                      </a:r>
                    </a:p>
                  </a:txBody>
                  <a:tcPr marL="36576" marR="36576" marT="18288" marB="18288">
                    <a:solidFill>
                      <a:srgbClr val="3547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2025</a:t>
                      </a:r>
                    </a:p>
                  </a:txBody>
                  <a:tcPr marL="36576" marR="36576" marT="18288" marB="18288">
                    <a:solidFill>
                      <a:srgbClr val="3547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Var.</a:t>
                      </a:r>
                    </a:p>
                  </a:txBody>
                  <a:tcPr marL="36576" marR="36576" marT="18288" marB="18288">
                    <a:solidFill>
                      <a:srgbClr val="35478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E5662"/>
                          </a:solidFill>
                          <a:latin typeface="Aptos"/>
                        </a:defRPr>
                      </a:pPr>
                      <a:r>
                        <a:t>EM PROF JOSE ANTONIO SANTOS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E5662"/>
                          </a:solidFill>
                          <a:latin typeface="Aptos"/>
                        </a:defRPr>
                      </a:pPr>
                      <a:r>
                        <a:t>iniciais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E5662"/>
                          </a:solidFill>
                          <a:latin typeface="Aptos"/>
                        </a:defRPr>
                      </a:pPr>
                      <a:r>
                        <a:t>3,9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E5662"/>
                          </a:solidFill>
                          <a:latin typeface="Aptos"/>
                        </a:defRPr>
                      </a:pPr>
                      <a:r>
                        <a:t>5,0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E5662"/>
                          </a:solidFill>
                          <a:latin typeface="Aptos"/>
                        </a:defRPr>
                      </a:pPr>
                      <a:r>
                        <a:t>+1,1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E5662"/>
                          </a:solidFill>
                          <a:latin typeface="Aptos"/>
                        </a:defRPr>
                      </a:pPr>
                      <a:r>
                        <a:t>EM PROF ERNESTINA SILVA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E5662"/>
                          </a:solidFill>
                          <a:latin typeface="Aptos"/>
                        </a:defRPr>
                      </a:pPr>
                      <a:r>
                        <a:t>iniciais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E5662"/>
                          </a:solidFill>
                          <a:latin typeface="Aptos"/>
                        </a:defRPr>
                      </a:pPr>
                      <a:r>
                        <a:t>3,5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E5662"/>
                          </a:solidFill>
                          <a:latin typeface="Aptos"/>
                        </a:defRPr>
                      </a:pPr>
                      <a:r>
                        <a:t>4,4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E5662"/>
                          </a:solidFill>
                          <a:latin typeface="Aptos"/>
                        </a:defRPr>
                      </a:pPr>
                      <a:r>
                        <a:t>+0,9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E5662"/>
                          </a:solidFill>
                          <a:latin typeface="Aptos"/>
                        </a:defRPr>
                      </a:pPr>
                      <a:r>
                        <a:t>EM DESEMBARGADOR JOSE SOTERO VIEIRA DE MELO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E5662"/>
                          </a:solidFill>
                          <a:latin typeface="Aptos"/>
                        </a:defRPr>
                      </a:pPr>
                      <a:r>
                        <a:t>iniciais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E5662"/>
                          </a:solidFill>
                          <a:latin typeface="Aptos"/>
                        </a:defRPr>
                      </a:pPr>
                      <a:r>
                        <a:t>4,6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E5662"/>
                          </a:solidFill>
                          <a:latin typeface="Aptos"/>
                        </a:defRPr>
                      </a:pPr>
                      <a:r>
                        <a:t>5,5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E5662"/>
                          </a:solidFill>
                          <a:latin typeface="Aptos"/>
                        </a:defRPr>
                      </a:pPr>
                      <a:r>
                        <a:t>+0,9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E5662"/>
                          </a:solidFill>
                          <a:latin typeface="Aptos"/>
                        </a:defRPr>
                      </a:pPr>
                      <a:r>
                        <a:t>EM PROF ERNESTINA SILVA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E5662"/>
                          </a:solidFill>
                          <a:latin typeface="Aptos"/>
                        </a:defRPr>
                      </a:pPr>
                      <a:r>
                        <a:t>finais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E5662"/>
                          </a:solidFill>
                          <a:latin typeface="Aptos"/>
                        </a:defRPr>
                      </a:pPr>
                      <a:r>
                        <a:t>3,9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E5662"/>
                          </a:solidFill>
                          <a:latin typeface="Aptos"/>
                        </a:defRPr>
                      </a:pPr>
                      <a:r>
                        <a:t>4,7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E5662"/>
                          </a:solidFill>
                          <a:latin typeface="Aptos"/>
                        </a:defRPr>
                      </a:pPr>
                      <a:r>
                        <a:t>+0,8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E5662"/>
                          </a:solidFill>
                          <a:latin typeface="Aptos"/>
                        </a:defRPr>
                      </a:pPr>
                      <a:r>
                        <a:t>EM DESEMBARGADOR JOSE SOTERO VIEIRA DE MELO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E5662"/>
                          </a:solidFill>
                          <a:latin typeface="Aptos"/>
                        </a:defRPr>
                      </a:pPr>
                      <a:r>
                        <a:t>finais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E5662"/>
                          </a:solidFill>
                          <a:latin typeface="Aptos"/>
                        </a:defRPr>
                      </a:pPr>
                      <a:r>
                        <a:t>3,7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E5662"/>
                          </a:solidFill>
                          <a:latin typeface="Aptos"/>
                        </a:defRPr>
                      </a:pPr>
                      <a:r>
                        <a:t>4,1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E5662"/>
                          </a:solidFill>
                          <a:latin typeface="Aptos"/>
                        </a:defRPr>
                      </a:pPr>
                      <a:r>
                        <a:t>+0,4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7724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35478D"/>
                </a:solidFill>
                <a:latin typeface="Aptos"/>
              </a:rPr>
              <a:t>IDEB por escola mostra avancos disseminados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777240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4E5662"/>
                </a:solidFill>
                <a:latin typeface="Aptos"/>
              </a:rPr>
              <a:t>Dumbbell chart: 2023 x 2025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89888"/>
            <a:ext cx="777240" cy="73152"/>
          </a:xfrm>
          <a:prstGeom prst="roundRect">
            <a:avLst/>
          </a:prstGeom>
          <a:solidFill>
            <a:srgbClr val="32A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804672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00" b="0">
                <a:solidFill>
                  <a:srgbClr val="9AA0A6"/>
                </a:solidFill>
                <a:latin typeface="Aptos"/>
              </a:rPr>
              <a:t>Fonte: INEP / IDEB / Base dos Dados | Elaboracao: analise propria | IDEB 2023-2025</a:t>
            </a:r>
          </a:p>
        </p:txBody>
      </p:sp>
      <p:pic>
        <p:nvPicPr>
          <p:cNvPr id="6" name="Picture 5" descr="logo_se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291072"/>
            <a:ext cx="960120" cy="960120"/>
          </a:xfrm>
          <a:prstGeom prst="rect">
            <a:avLst/>
          </a:prstGeom>
        </p:spPr>
      </p:pic>
      <p:pic>
        <p:nvPicPr>
          <p:cNvPr id="7" name="Picture 6" descr="14_escolas_ideb_inicia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17320"/>
            <a:ext cx="5440680" cy="4389120"/>
          </a:xfrm>
          <a:prstGeom prst="rect">
            <a:avLst/>
          </a:prstGeom>
        </p:spPr>
      </p:pic>
      <p:pic>
        <p:nvPicPr>
          <p:cNvPr id="8" name="Picture 7" descr="15_escolas_ideb_fina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1417320"/>
            <a:ext cx="54406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7724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35478D"/>
                </a:solidFill>
                <a:latin typeface="Aptos"/>
              </a:rPr>
              <a:t>Escolas que mais avancaram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777240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4E5662"/>
                </a:solidFill>
                <a:latin typeface="Aptos"/>
              </a:rPr>
              <a:t>Ranking pela variacao absoluta do IDEB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89888"/>
            <a:ext cx="777240" cy="73152"/>
          </a:xfrm>
          <a:prstGeom prst="roundRect">
            <a:avLst/>
          </a:prstGeom>
          <a:solidFill>
            <a:srgbClr val="32A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804672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00" b="0">
                <a:solidFill>
                  <a:srgbClr val="9AA0A6"/>
                </a:solidFill>
                <a:latin typeface="Aptos"/>
              </a:rPr>
              <a:t>Fonte: INEP / IDEB / Base dos Dados | Elaboracao: analise propria | IDEB 2023-2025</a:t>
            </a:r>
          </a:p>
        </p:txBody>
      </p:sp>
      <p:pic>
        <p:nvPicPr>
          <p:cNvPr id="6" name="Picture 5" descr="logo_se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291072"/>
            <a:ext cx="960120" cy="960120"/>
          </a:xfrm>
          <a:prstGeom prst="rect">
            <a:avLst/>
          </a:prstGeom>
        </p:spPr>
      </p:pic>
      <p:pic>
        <p:nvPicPr>
          <p:cNvPr id="7" name="Picture 6" descr="16_variacao_escol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25880"/>
            <a:ext cx="6766560" cy="457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946136" y="1874519"/>
            <a:ext cx="2560320" cy="1234440"/>
          </a:xfrm>
          <a:prstGeom prst="roundRect">
            <a:avLst/>
          </a:prstGeom>
          <a:solidFill>
            <a:srgbClr val="E6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09560" y="1828800"/>
            <a:ext cx="2560320" cy="1234440"/>
          </a:xfrm>
          <a:prstGeom prst="roundRect">
            <a:avLst/>
          </a:prstGeom>
          <a:solidFill>
            <a:srgbClr val="40C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956816"/>
            <a:ext cx="22860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Maior avanco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9288" y="2176272"/>
            <a:ext cx="2340863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+1,1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679192"/>
            <a:ext cx="22860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ptos"/>
              </a:rPr>
              <a:t>Anos iniciais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3429000"/>
            <a:ext cx="2880360" cy="822960"/>
          </a:xfrm>
          <a:prstGeom prst="roundRect">
            <a:avLst/>
          </a:prstGeom>
          <a:solidFill>
            <a:srgbClr val="F7F9FC"/>
          </a:solidFill>
          <a:ln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74152" y="3575304"/>
            <a:ext cx="2551176" cy="6035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E5662"/>
                </a:solidFill>
                <a:latin typeface="Aptos"/>
              </a:rPr>
              <a:t>EM PROF JOSE ANTONIO SANTOS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7724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35478D"/>
                </a:solidFill>
                <a:latin typeface="Aptos"/>
              </a:rPr>
              <a:t>Pontos de atencao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777240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4E5662"/>
                </a:solidFill>
                <a:latin typeface="Aptos"/>
              </a:rPr>
              <a:t>Leitura gerencial sem linguagem acusatoria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89888"/>
            <a:ext cx="777240" cy="73152"/>
          </a:xfrm>
          <a:prstGeom prst="roundRect">
            <a:avLst/>
          </a:prstGeom>
          <a:solidFill>
            <a:srgbClr val="32A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804672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00" b="0">
                <a:solidFill>
                  <a:srgbClr val="9AA0A6"/>
                </a:solidFill>
                <a:latin typeface="Aptos"/>
              </a:rPr>
              <a:t>Fonte: INEP / IDEB / Base dos Dados | Elaboracao: analise propria | IDEB 2023-2025</a:t>
            </a:r>
          </a:p>
        </p:txBody>
      </p:sp>
      <p:pic>
        <p:nvPicPr>
          <p:cNvPr id="6" name="Picture 5" descr="logo_se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291072"/>
            <a:ext cx="960120" cy="960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1691640"/>
            <a:ext cx="5120640" cy="3017520"/>
          </a:xfrm>
          <a:prstGeom prst="rect">
            <a:avLst/>
          </a:prstGeom>
          <a:noFill/>
        </p:spPr>
        <p:txBody>
          <a:bodyPr wrap="none" lIns="4572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4E5662"/>
                </a:solidFill>
                <a:latin typeface="Aptos"/>
              </a:defRPr>
            </a:pPr>
            <a:r>
              <a:t>Anos finais: queda de 8 posicoes no ranking estadual.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965960"/>
            <a:ext cx="4389120" cy="1554480"/>
          </a:xfrm>
          <a:prstGeom prst="roundRect">
            <a:avLst/>
          </a:prstGeom>
          <a:solidFill>
            <a:srgbClr val="F7F9FC"/>
          </a:solidFill>
          <a:ln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11112" y="2112264"/>
            <a:ext cx="4059935" cy="133502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E5662"/>
                </a:solidFill>
                <a:latin typeface="Aptos"/>
              </a:rPr>
              <a:t>Mesmo com avanco geral, a gestao deve observar rankings, diferencas entre etapas e sustentacao dos resultados escolares.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7724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35478D"/>
                </a:solidFill>
                <a:latin typeface="Aptos"/>
              </a:rPr>
              <a:t>Destaques positivos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777240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4E5662"/>
                </a:solidFill>
                <a:latin typeface="Aptos"/>
              </a:rPr>
              <a:t>Evidencias que sustentam a narrativa de avanco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89888"/>
            <a:ext cx="777240" cy="73152"/>
          </a:xfrm>
          <a:prstGeom prst="roundRect">
            <a:avLst/>
          </a:prstGeom>
          <a:solidFill>
            <a:srgbClr val="32A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804672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00" b="0">
                <a:solidFill>
                  <a:srgbClr val="9AA0A6"/>
                </a:solidFill>
                <a:latin typeface="Aptos"/>
              </a:rPr>
              <a:t>Fonte: INEP / IDEB / Base dos Dados | Elaboracao: analise propria | IDEB 2023-2025</a:t>
            </a:r>
          </a:p>
        </p:txBody>
      </p:sp>
      <p:pic>
        <p:nvPicPr>
          <p:cNvPr id="6" name="Picture 5" descr="logo_se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291072"/>
            <a:ext cx="960120" cy="960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1554480"/>
            <a:ext cx="48006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23544" y="1719072"/>
            <a:ext cx="402336" cy="73152"/>
          </a:xfrm>
          <a:prstGeom prst="roundRect">
            <a:avLst/>
          </a:prstGeom>
          <a:solidFill>
            <a:srgbClr val="32A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865376"/>
            <a:ext cx="4471416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5478D"/>
                </a:solidFill>
                <a:latin typeface="Aptos"/>
              </a:rPr>
              <a:t>Destaque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212848"/>
            <a:ext cx="4471416" cy="42062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E5662"/>
                </a:solidFill>
                <a:latin typeface="Aptos"/>
              </a:rPr>
              <a:t>Maior crescimento nos Anos iniciais: +0,8 ponto.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54480"/>
            <a:ext cx="48006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18504" y="1719072"/>
            <a:ext cx="402336" cy="73152"/>
          </a:xfrm>
          <a:prstGeom prst="roundRect">
            <a:avLst/>
          </a:prstGeom>
          <a:solidFill>
            <a:srgbClr val="35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865376"/>
            <a:ext cx="4471416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5478D"/>
                </a:solidFill>
                <a:latin typeface="Aptos"/>
              </a:rPr>
              <a:t>Destaque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2212848"/>
            <a:ext cx="4471416" cy="42062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E5662"/>
                </a:solidFill>
                <a:latin typeface="Aptos"/>
              </a:rPr>
              <a:t>Melhor posicao regional: 1º lugar na DRE 4 nos Anos iniciais.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788920"/>
            <a:ext cx="48006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23544" y="2953512"/>
            <a:ext cx="402336" cy="73152"/>
          </a:xfrm>
          <a:prstGeom prst="roundRect">
            <a:avLst/>
          </a:prstGeom>
          <a:solidFill>
            <a:srgbClr val="FA2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099815"/>
            <a:ext cx="4471416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5478D"/>
                </a:solidFill>
                <a:latin typeface="Aptos"/>
              </a:rPr>
              <a:t>Destaque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3447287"/>
            <a:ext cx="4471416" cy="42062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E5662"/>
                </a:solidFill>
                <a:latin typeface="Aptos"/>
              </a:rPr>
              <a:t>Maior avanco escolar: ESCOLA-MUL-PROF--JOSE-ANTONIO-SANTOS (+1,1 ponto).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788920"/>
            <a:ext cx="48006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18504" y="2953512"/>
            <a:ext cx="402336" cy="73152"/>
          </a:xfrm>
          <a:prstGeom prst="roundRect">
            <a:avLst/>
          </a:prstGeom>
          <a:solidFill>
            <a:srgbClr val="FFC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3099815"/>
            <a:ext cx="4471416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5478D"/>
                </a:solidFill>
                <a:latin typeface="Aptos"/>
              </a:rPr>
              <a:t>Destaque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3447287"/>
            <a:ext cx="4471416" cy="42062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E5662"/>
                </a:solidFill>
                <a:latin typeface="Aptos"/>
              </a:rPr>
              <a:t>5 de 5 resultados escolares comparaveis avancaram.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7724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35478D"/>
                </a:solidFill>
                <a:latin typeface="Aptos"/>
              </a:rPr>
              <a:t>Diagnostico executivo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777240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4E5662"/>
                </a:solidFill>
                <a:latin typeface="Aptos"/>
              </a:rPr>
              <a:t>Avancos, atencoes e oportunidades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89888"/>
            <a:ext cx="777240" cy="73152"/>
          </a:xfrm>
          <a:prstGeom prst="roundRect">
            <a:avLst/>
          </a:prstGeom>
          <a:solidFill>
            <a:srgbClr val="32A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804672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00" b="0">
                <a:solidFill>
                  <a:srgbClr val="9AA0A6"/>
                </a:solidFill>
                <a:latin typeface="Aptos"/>
              </a:rPr>
              <a:t>Fonte: INEP / IDEB / Base dos Dados | Elaboracao: analise propria | IDEB 2023-2025</a:t>
            </a:r>
          </a:p>
        </p:txBody>
      </p:sp>
      <p:pic>
        <p:nvPicPr>
          <p:cNvPr id="6" name="Picture 5" descr="logo_se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291072"/>
            <a:ext cx="960120" cy="960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" y="1572768"/>
            <a:ext cx="3246120" cy="3794760"/>
          </a:xfrm>
          <a:prstGeom prst="roundRect">
            <a:avLst/>
          </a:prstGeom>
          <a:solidFill>
            <a:srgbClr val="FFFFFF"/>
          </a:solidFill>
          <a:ln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2104" y="1737360"/>
            <a:ext cx="402336" cy="73152"/>
          </a:xfrm>
          <a:prstGeom prst="roundRect">
            <a:avLst/>
          </a:prstGeom>
          <a:solidFill>
            <a:srgbClr val="40C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883664"/>
            <a:ext cx="2916936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5478D"/>
                </a:solidFill>
                <a:latin typeface="Aptos"/>
              </a:rPr>
              <a:t>AVANCOS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231136"/>
            <a:ext cx="2916936" cy="30449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E5662"/>
                </a:solidFill>
                <a:latin typeface="Aptos"/>
              </a:rPr>
              <a:t>- Maior crescimento nos Anos iniciais: +0,8 ponto.
- Melhor posicao regional: 1º lugar na DRE 4 nos Anos iniciais.
- Maior avanco escolar: ESCOLA-MUL-PROF--JOSE-ANTONIO-SANTOS (+1,1 ponto).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572768"/>
            <a:ext cx="3246120" cy="3794760"/>
          </a:xfrm>
          <a:prstGeom prst="roundRect">
            <a:avLst/>
          </a:prstGeom>
          <a:solidFill>
            <a:srgbClr val="FFFFFF"/>
          </a:solidFill>
          <a:ln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81144" y="1737360"/>
            <a:ext cx="402336" cy="73152"/>
          </a:xfrm>
          <a:prstGeom prst="roundRect">
            <a:avLst/>
          </a:prstGeom>
          <a:solidFill>
            <a:srgbClr val="FA2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1" y="1883664"/>
            <a:ext cx="2916936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5478D"/>
                </a:solidFill>
                <a:latin typeface="Aptos"/>
              </a:rPr>
              <a:t>ATENCOES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1" y="2231136"/>
            <a:ext cx="2916936" cy="30449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E5662"/>
                </a:solidFill>
                <a:latin typeface="Aptos"/>
              </a:rPr>
              <a:t>- Anos finais: queda de 8 posicoes no ranking estadual.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572768"/>
            <a:ext cx="3246120" cy="3794760"/>
          </a:xfrm>
          <a:prstGeom prst="roundRect">
            <a:avLst/>
          </a:prstGeom>
          <a:solidFill>
            <a:srgbClr val="FFFFFF"/>
          </a:solidFill>
          <a:ln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30183" y="1737360"/>
            <a:ext cx="402336" cy="73152"/>
          </a:xfrm>
          <a:prstGeom prst="roundRect">
            <a:avLst/>
          </a:prstGeom>
          <a:solidFill>
            <a:srgbClr val="FFC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1" y="1883664"/>
            <a:ext cx="2916936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5478D"/>
                </a:solidFill>
                <a:latin typeface="Aptos"/>
              </a:rPr>
              <a:t>OPORTUNIDADES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1" y="2231136"/>
            <a:ext cx="2916936" cy="30449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E5662"/>
                </a:solidFill>
                <a:latin typeface="Aptos"/>
              </a:rPr>
              <a:t>- Intensificar acompanhamento dos Anos finais, etapa com menor IDEB 2025.
- Monitorar aprendizagem e fluxo conjuntamente em cada ciclo avaliativo.
- Disseminar praticas das escolas com maior crescimento.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7724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35478D"/>
                </a:solidFill>
                <a:latin typeface="Aptos"/>
              </a:rPr>
              <a:t>Prioridades para o proximo ciclo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777240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4E5662"/>
                </a:solidFill>
                <a:latin typeface="Aptos"/>
              </a:rPr>
              <a:t>Recomendacoes conectadas aos resultados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89888"/>
            <a:ext cx="777240" cy="73152"/>
          </a:xfrm>
          <a:prstGeom prst="roundRect">
            <a:avLst/>
          </a:prstGeom>
          <a:solidFill>
            <a:srgbClr val="32A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804672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00" b="0">
                <a:solidFill>
                  <a:srgbClr val="9AA0A6"/>
                </a:solidFill>
                <a:latin typeface="Aptos"/>
              </a:rPr>
              <a:t>Fonte: INEP / IDEB / Base dos Dados | Elaboracao: analise propria | IDEB 2023-2025</a:t>
            </a:r>
          </a:p>
        </p:txBody>
      </p:sp>
      <p:pic>
        <p:nvPicPr>
          <p:cNvPr id="6" name="Picture 5" descr="logo_se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291072"/>
            <a:ext cx="960120" cy="960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1554480"/>
            <a:ext cx="6583680" cy="4206240"/>
          </a:xfrm>
          <a:prstGeom prst="rect">
            <a:avLst/>
          </a:prstGeom>
          <a:noFill/>
        </p:spPr>
        <p:txBody>
          <a:bodyPr wrap="none" lIns="4572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4E5662"/>
                </a:solidFill>
                <a:latin typeface="Aptos"/>
              </a:defRPr>
            </a:pPr>
            <a:r>
              <a:t>Intensificar acompanhamento dos Anos finais, etapa com menor IDEB 2025.</a:t>
            </a:r>
          </a:p>
          <a:p>
            <a:pPr>
              <a:spcAft>
                <a:spcPts val="800"/>
              </a:spcAft>
              <a:defRPr sz="1500">
                <a:solidFill>
                  <a:srgbClr val="4E5662"/>
                </a:solidFill>
                <a:latin typeface="Aptos"/>
              </a:defRPr>
            </a:pPr>
            <a:r>
              <a:t>Monitorar aprendizagem e fluxo conjuntamente em cada ciclo avaliativo.</a:t>
            </a:r>
          </a:p>
          <a:p>
            <a:pPr>
              <a:spcAft>
                <a:spcPts val="800"/>
              </a:spcAft>
              <a:defRPr sz="1500">
                <a:solidFill>
                  <a:srgbClr val="4E5662"/>
                </a:solidFill>
                <a:latin typeface="Aptos"/>
              </a:defRPr>
            </a:pPr>
            <a:r>
              <a:t>Disseminar praticas das escolas com maior crescimento.</a:t>
            </a:r>
          </a:p>
          <a:p>
            <a:pPr>
              <a:spcAft>
                <a:spcPts val="800"/>
              </a:spcAft>
              <a:defRPr sz="1500">
                <a:solidFill>
                  <a:srgbClr val="4E5662"/>
                </a:solidFill>
                <a:latin typeface="Aptos"/>
              </a:defRPr>
            </a:pPr>
            <a:r>
              <a:t>Apoiar escolas e etapas com menor desempenho relativo.</a:t>
            </a:r>
          </a:p>
          <a:p>
            <a:pPr>
              <a:spcAft>
                <a:spcPts val="800"/>
              </a:spcAft>
              <a:defRPr sz="1500">
                <a:solidFill>
                  <a:srgbClr val="4E5662"/>
                </a:solidFill>
                <a:latin typeface="Aptos"/>
              </a:defRPr>
            </a:pPr>
            <a:r>
              <a:t>Usar rankings DRE 4 e estadual como instrumentos de gestao, nao como fim em si mesmos.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11896" y="2103120"/>
            <a:ext cx="2240280" cy="1188720"/>
          </a:xfrm>
          <a:prstGeom prst="roundRect">
            <a:avLst/>
          </a:prstGeom>
          <a:solidFill>
            <a:srgbClr val="E6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75320" y="2057400"/>
            <a:ext cx="2240280" cy="1188720"/>
          </a:xfrm>
          <a:prstGeom prst="roundRect">
            <a:avLst/>
          </a:prstGeom>
          <a:solidFill>
            <a:srgbClr val="35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2185416"/>
            <a:ext cx="19659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Foco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5048" y="2404872"/>
            <a:ext cx="2020824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907792"/>
            <a:ext cx="19659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ptos"/>
              </a:rPr>
              <a:t>proximo ciclo de monitoramento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3749039"/>
            <a:ext cx="3154680" cy="1097280"/>
          </a:xfrm>
          <a:prstGeom prst="roundRect">
            <a:avLst/>
          </a:prstGeom>
          <a:solidFill>
            <a:srgbClr val="F7F9FC"/>
          </a:solidFill>
          <a:ln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82712" y="3895344"/>
            <a:ext cx="2825496" cy="87782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E5662"/>
                </a:solidFill>
                <a:latin typeface="Aptos"/>
              </a:rPr>
              <a:t>A agenda recomendada combina aprendizagem, fluxo, apoio escolar e uso sistematico de evidencias.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7724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35478D"/>
                </a:solidFill>
                <a:latin typeface="Aptos"/>
              </a:rPr>
              <a:t>Rosario avancou e deve sustentar a trajetoria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777240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4E5662"/>
                </a:solidFill>
                <a:latin typeface="Aptos"/>
              </a:rPr>
              <a:t>Conclusao executiva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89888"/>
            <a:ext cx="777240" cy="73152"/>
          </a:xfrm>
          <a:prstGeom prst="roundRect">
            <a:avLst/>
          </a:prstGeom>
          <a:solidFill>
            <a:srgbClr val="32A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804672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00" b="0">
                <a:solidFill>
                  <a:srgbClr val="9AA0A6"/>
                </a:solidFill>
                <a:latin typeface="Aptos"/>
              </a:rPr>
              <a:t>Fonte: INEP / IDEB / Base dos Dados | Elaboracao: analise propria | IDEB 2023-2025</a:t>
            </a:r>
          </a:p>
        </p:txBody>
      </p:sp>
      <p:pic>
        <p:nvPicPr>
          <p:cNvPr id="6" name="Picture 5" descr="logo_se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291072"/>
            <a:ext cx="960120" cy="960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50976" y="1874519"/>
            <a:ext cx="2423160" cy="1325880"/>
          </a:xfrm>
          <a:prstGeom prst="roundRect">
            <a:avLst/>
          </a:prstGeom>
          <a:solidFill>
            <a:srgbClr val="E6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2423160" cy="1325880"/>
          </a:xfrm>
          <a:prstGeom prst="roundRect">
            <a:avLst/>
          </a:prstGeom>
          <a:solidFill>
            <a:srgbClr val="32A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56816"/>
            <a:ext cx="214884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Anos iniciais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176272"/>
            <a:ext cx="2203704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5,4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79192"/>
            <a:ext cx="214884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ptos"/>
              </a:rPr>
              <a:t>+0,8 ponto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77056" y="1874519"/>
            <a:ext cx="2423160" cy="1325880"/>
          </a:xfrm>
          <a:prstGeom prst="roundRect">
            <a:avLst/>
          </a:prstGeom>
          <a:solidFill>
            <a:srgbClr val="E6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840480" y="1828800"/>
            <a:ext cx="2423160" cy="1325880"/>
          </a:xfrm>
          <a:prstGeom prst="roundRect">
            <a:avLst/>
          </a:prstGeom>
          <a:solidFill>
            <a:srgbClr val="35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77640" y="1956816"/>
            <a:ext cx="214884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Anos finais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0208" y="2176272"/>
            <a:ext cx="2203704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4,1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40" y="2679192"/>
            <a:ext cx="214884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ptos"/>
              </a:rPr>
              <a:t>+0,4 ponto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03136" y="1874519"/>
            <a:ext cx="2423160" cy="1325880"/>
          </a:xfrm>
          <a:prstGeom prst="roundRect">
            <a:avLst/>
          </a:prstGeom>
          <a:solidFill>
            <a:srgbClr val="E6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66560" y="1828800"/>
            <a:ext cx="2423160" cy="1325880"/>
          </a:xfrm>
          <a:prstGeom prst="roundRect">
            <a:avLst/>
          </a:prstGeom>
          <a:solidFill>
            <a:srgbClr val="FA2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956816"/>
            <a:ext cx="214884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DRE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6288" y="2176272"/>
            <a:ext cx="2203704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1º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679192"/>
            <a:ext cx="214884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ptos"/>
              </a:rPr>
              <a:t>melhor posicao regional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" y="4069080"/>
            <a:ext cx="9601200" cy="914400"/>
          </a:xfrm>
          <a:prstGeom prst="roundRect">
            <a:avLst/>
          </a:prstGeom>
          <a:solidFill>
            <a:srgbClr val="F7F9FC"/>
          </a:solidFill>
          <a:ln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07592" y="4215384"/>
            <a:ext cx="9272016" cy="6949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E5662"/>
                </a:solidFill>
                <a:latin typeface="Aptos"/>
              </a:rPr>
              <a:t>Os resultados mostram avanco educacional, com destaque regional nos anos iniciais e necessidade de manter acompanhamento tecnico nos anos finais.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965960"/>
            <a:ext cx="7223760" cy="6217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400" b="1">
                <a:solidFill>
                  <a:srgbClr val="35478D"/>
                </a:solidFill>
                <a:latin typeface="Aptos"/>
              </a:rPr>
              <a:t>Educacao baseada em evidencias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724912"/>
            <a:ext cx="65836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0">
                <a:solidFill>
                  <a:srgbClr val="4E5662"/>
                </a:solidFill>
                <a:latin typeface="Aptos"/>
              </a:rPr>
              <a:t>Transformar dados em decisoes para continuar avancando.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6696" y="3977639"/>
            <a:ext cx="1828800" cy="960120"/>
          </a:xfrm>
          <a:prstGeom prst="roundRect">
            <a:avLst/>
          </a:prstGeom>
          <a:solidFill>
            <a:srgbClr val="E6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" y="3931920"/>
            <a:ext cx="1828800" cy="960120"/>
          </a:xfrm>
          <a:prstGeom prst="roundRect">
            <a:avLst/>
          </a:prstGeom>
          <a:solidFill>
            <a:srgbClr val="32A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059935"/>
            <a:ext cx="15544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4279392"/>
            <a:ext cx="1609344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-&gt;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782312"/>
            <a:ext cx="15544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ptos"/>
              </a:rPr>
              <a:t>Analise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99816" y="3977639"/>
            <a:ext cx="1828800" cy="960120"/>
          </a:xfrm>
          <a:prstGeom prst="roundRect">
            <a:avLst/>
          </a:prstGeom>
          <a:solidFill>
            <a:srgbClr val="E6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63240" y="3931920"/>
            <a:ext cx="1828800" cy="960120"/>
          </a:xfrm>
          <a:prstGeom prst="roundRect">
            <a:avLst/>
          </a:prstGeom>
          <a:solidFill>
            <a:srgbClr val="35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4059935"/>
            <a:ext cx="15544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Analise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2968" y="4279392"/>
            <a:ext cx="1609344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-&gt;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782312"/>
            <a:ext cx="15544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ptos"/>
              </a:rPr>
              <a:t>Decisao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02936" y="3977639"/>
            <a:ext cx="1828800" cy="960120"/>
          </a:xfrm>
          <a:prstGeom prst="roundRect">
            <a:avLst/>
          </a:prstGeom>
          <a:solidFill>
            <a:srgbClr val="E6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66360" y="3931920"/>
            <a:ext cx="1828800" cy="960120"/>
          </a:xfrm>
          <a:prstGeom prst="roundRect">
            <a:avLst/>
          </a:prstGeom>
          <a:solidFill>
            <a:srgbClr val="40C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4059935"/>
            <a:ext cx="15544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Decisao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6088" y="4279392"/>
            <a:ext cx="1609344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-&gt;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4782312"/>
            <a:ext cx="15544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ptos"/>
              </a:rPr>
              <a:t>Aprendizagem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47104"/>
            <a:ext cx="804672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00" b="0">
                <a:solidFill>
                  <a:srgbClr val="9AA0A6"/>
                </a:solidFill>
                <a:latin typeface="Aptos"/>
              </a:rPr>
              <a:t>Fonte: INEP / IDEB / Base dos Dados | Elaboracao: analise propria | IDEB 2023-2025</a:t>
            </a:r>
          </a:p>
        </p:txBody>
      </p:sp>
      <p:pic>
        <p:nvPicPr>
          <p:cNvPr id="20" name="Picture 19" descr="logo_se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291072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